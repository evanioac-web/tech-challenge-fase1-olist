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61" d="100"/>
          <a:sy n="161" d="100"/>
        </p:scale>
        <p:origin x="260" y="1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Relationship Id="rId26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vanio Carvalho" userId="a84c28dca2c48ebb" providerId="LiveId" clId="{9951D568-64CE-4441-9351-9161622AC723}"/>
    <pc:docChg chg="undo custSel modSld">
      <pc:chgData name="Evanio Carvalho" userId="a84c28dca2c48ebb" providerId="LiveId" clId="{9951D568-64CE-4441-9351-9161622AC723}" dt="2026-08-20T01:51:33.418" v="91" actId="20577"/>
      <pc:docMkLst>
        <pc:docMk/>
      </pc:docMkLst>
      <pc:sldChg chg="modSp mod">
        <pc:chgData name="Evanio Carvalho" userId="a84c28dca2c48ebb" providerId="LiveId" clId="{9951D568-64CE-4441-9351-9161622AC723}" dt="2026-08-20T01:51:33.418" v="91" actId="20577"/>
        <pc:sldMkLst>
          <pc:docMk/>
          <pc:sldMk cId="0" sldId="256"/>
        </pc:sldMkLst>
        <pc:spChg chg="mod">
          <ac:chgData name="Evanio Carvalho" userId="a84c28dca2c48ebb" providerId="LiveId" clId="{9951D568-64CE-4441-9351-9161622AC723}" dt="2026-08-20T01:51:33.418" v="91" actId="20577"/>
          <ac:spMkLst>
            <pc:docMk/>
            <pc:sldMk cId="0" sldId="256"/>
            <ac:spMk id="6" creationId="{00000000-0000-0000-0000-000000000000}"/>
          </ac:spMkLst>
        </pc:spChg>
      </pc:sldChg>
      <pc:sldChg chg="modSp mod">
        <pc:chgData name="Evanio Carvalho" userId="a84c28dca2c48ebb" providerId="LiveId" clId="{9951D568-64CE-4441-9351-9161622AC723}" dt="2026-08-20T01:32:39.784" v="87" actId="20577"/>
        <pc:sldMkLst>
          <pc:docMk/>
          <pc:sldMk cId="0" sldId="274"/>
        </pc:sldMkLst>
        <pc:spChg chg="mod">
          <ac:chgData name="Evanio Carvalho" userId="a84c28dca2c48ebb" providerId="LiveId" clId="{9951D568-64CE-4441-9351-9161622AC723}" dt="2026-08-20T01:32:39.784" v="87" actId="20577"/>
          <ac:spMkLst>
            <pc:docMk/>
            <pc:sldMk cId="0" sldId="274"/>
            <ac:spMk id="3" creationId="{00000000-0000-0000-0000-000000000000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553268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Olist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301752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de Crescimento e Receita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3749040"/>
            <a:ext cx="3657600" cy="0"/>
          </a:xfrm>
          <a:prstGeom prst="line">
            <a:avLst/>
          </a:prstGeom>
          <a:noFill/>
          <a:ln w="25400">
            <a:solidFill>
              <a:srgbClr val="1F4E7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40233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Challenge | Fase 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4434839"/>
            <a:ext cx="7315200" cy="131281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Eduardo Zancanaro Vilela</a:t>
            </a:r>
            <a:r>
              <a:rPr lang="en-US" sz="1600" dirty="0" err="1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6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</a:p>
          <a:p>
            <a:pPr marL="0" indent="0">
              <a:buNone/>
            </a:pPr>
            <a:r>
              <a:rPr lang="en-US" sz="16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Evanio Alves Carvalho</a:t>
            </a:r>
          </a:p>
          <a:p>
            <a:pPr marL="0" indent="0">
              <a:buNone/>
            </a:pPr>
            <a:r>
              <a:rPr lang="en-US" sz="16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Marcela Morillas de Souza</a:t>
            </a:r>
          </a:p>
          <a:p>
            <a:pPr marL="0" indent="0">
              <a:buNone/>
            </a:pPr>
            <a:r>
              <a:rPr lang="en-US" sz="16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Mateus Araujo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da análise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14400" y="1554480"/>
            <a:ext cx="1033272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20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Entender como a receita da Olist evoluiu entre 2017 e 2018</a:t>
            </a:r>
            <a:endParaRPr lang="en-US" sz="20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20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Descobrir onde essa receita está concentrada, por categoria, região e vendedor</a:t>
            </a:r>
            <a:endParaRPr lang="en-US" sz="20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20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Apontar recomendações para apoiar a decisão de investidores e acionistas</a:t>
            </a:r>
            <a:endParaRPr lang="en-US" sz="20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20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usada: Brazilian E-Commerce Public Dataset by Olist</a:t>
            </a:r>
            <a:endParaRPr lang="en-US" sz="20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20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Receita considerada: preço do produto mais o frete de cada item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preparei os dados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14400" y="1554480"/>
            <a:ext cx="1033272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20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Organizei em modelo estrela, com tabela fato de itens e dimensões de cliente, produto, vendedor e data</a:t>
            </a:r>
            <a:endParaRPr lang="en-US" sz="20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20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Período analisado: janeiro de 2017 a agosto de 2018</a:t>
            </a:r>
            <a:endParaRPr lang="en-US" sz="20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20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meses de 2016 ficaram de fora porque não têm movimento constante (setembro teve 4 pedidos, outubro 324, e dezembro 1)</a:t>
            </a:r>
            <a:endParaRPr lang="en-US" sz="20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20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considerei pedidos cancelados e indisponíveis, porque quase não têm produto associado</a:t>
            </a:r>
            <a:endParaRPr lang="en-US" sz="20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20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Mantive os outliers de preço, porque são produtos caros reais e não erros de cadastro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números do período</a:t>
            </a:r>
            <a:endParaRPr lang="en-US" sz="3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463040" y="1645920"/>
          <a:ext cx="9144000" cy="3520440"/>
        </p:xfrm>
        <a:graphic>
          <a:graphicData uri="http://schemas.openxmlformats.org/drawingml/2006/table">
            <a:tbl>
              <a:tblPr/>
              <a:tblGrid>
                <a:gridCol w="457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Indicador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404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Receita total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404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R$ 15,68 milhões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404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Pedidos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404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97.905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404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Crescimento no período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404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cerca de 628%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404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Ticket médio (média)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404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R$ 160,19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404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Ticket médio (mediana)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404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R$ 105,28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404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Coeficiente de variação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404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137%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analisei só de 2017 a 2018</a:t>
            </a:r>
            <a:endParaRPr lang="en-US" sz="2800" dirty="0"/>
          </a:p>
        </p:txBody>
      </p:sp>
      <p:pic>
        <p:nvPicPr>
          <p:cNvPr id="3" name="Image 0" descr="/sessions/nice-great-mayer/mnt/outputs/pptx_project/assets_simples/chart_00_serie_completa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22960" y="1280160"/>
            <a:ext cx="6949440" cy="42062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046720" y="1463040"/>
            <a:ext cx="356616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base começa em setembro de 2016, mas o começo não tem movimento constante.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Setembro teve 4 pedidos, outubro 324, novembro nem aparece e dezembro teve 1.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Outubro é maior que os vizinhos, mas ainda é menos da metade de janeiro de 2017, e parece um teste pontual.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 esses meses como base faria o crescimento parecer muito maior do que foi.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31520" y="603504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base pública Olist, todos os meses disponíveis.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receita cresceu, mas parou em 2018</a:t>
            </a:r>
            <a:endParaRPr lang="en-US" sz="2800" dirty="0"/>
          </a:p>
        </p:txBody>
      </p:sp>
      <p:pic>
        <p:nvPicPr>
          <p:cNvPr id="3" name="Image 0" descr="/sessions/nice-great-mayer/mnt/outputs/pptx_project/assets_simples/chart_01_evolucao_mensal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22960" y="1280160"/>
            <a:ext cx="6949440" cy="42062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046720" y="1463040"/>
            <a:ext cx="356616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receita saiu de R$ 137 mil em janeiro de 2017 para cerca de R$ 1 milhão em 2018.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Isso dá um crescimento de aproximadamente 628% no período.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 a partir de meados de 2018 ela para de crescer e fica oscilando no mesmo patamar.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31520" y="603504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base pública Olist, janeiro de 2017 a agosto de 2018.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maior mês foi novembro de 2017</a:t>
            </a:r>
            <a:endParaRPr lang="en-US" sz="2800" dirty="0"/>
          </a:p>
        </p:txBody>
      </p:sp>
      <p:pic>
        <p:nvPicPr>
          <p:cNvPr id="3" name="Image 0" descr="/sessions/nice-great-mayer/mnt/outputs/pptx_project/assets_simples/chart_07_black_friday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22960" y="1280160"/>
            <a:ext cx="6949440" cy="42062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046720" y="1463040"/>
            <a:ext cx="356616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Abrindo novembro por dia, quase tudo se concentra no dia 24, que foi a Black Friday.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Foram 1.166 pedidos nesse dia, contra uma média de 191 nos outros dias do mês.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 seja, o maior mês da série é uma data promocional e não um novo patamar de vendas.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31520" y="603504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base pública Olist, pedidos por dia em novembro de 2017.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ticket médio quase não mudou</a:t>
            </a:r>
            <a:endParaRPr lang="en-US" sz="2800" dirty="0"/>
          </a:p>
        </p:txBody>
      </p:sp>
      <p:pic>
        <p:nvPicPr>
          <p:cNvPr id="3" name="Image 0" descr="/sessions/nice-great-mayer/mnt/outputs/pptx_project/assets_simples/chart_02_ticket_medio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22960" y="1280160"/>
            <a:ext cx="6949440" cy="42062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046720" y="1463040"/>
            <a:ext cx="356616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valor médio por pedido ficou entre R$ 146 e R$ 174 durante todo o período.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média é R$ 160 e a mediana R$ 105, o que mostra que a maioria dos pedidos é mais barata.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Isso indica que o crescimento veio de vender mais pedidos, e não pedidos mais caros.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31520" y="603504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base pública Olist.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a receita parou de crescer</a:t>
            </a:r>
            <a:endParaRPr lang="en-US" sz="2800" dirty="0"/>
          </a:p>
        </p:txBody>
      </p:sp>
      <p:pic>
        <p:nvPicPr>
          <p:cNvPr id="3" name="Image 0" descr="/sessions/nice-great-mayer/mnt/outputs/pptx_project/assets_simples/chart_09_vendedores_clientes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22960" y="1280160"/>
            <a:ext cx="6949440" cy="42062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046720" y="1463040"/>
            <a:ext cx="356616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2018 os vendedores ativos subiram de 968 para 1.266, um crescimento de 31%.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clientes fizeram o contrário: caíram de 7.088 para 6.380, uma queda de 10%.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isso a receita por vendedor caiu 31%, de R$ 1.138 para R$ 788.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gargalo não é falta de quem venda, é falta de quem compre.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31520" y="603504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base pública Olist, clientes e vendedores distintos por mês.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receita é bem distribuída entre categorias</a:t>
            </a:r>
            <a:endParaRPr lang="en-US" sz="2800" dirty="0"/>
          </a:p>
        </p:txBody>
      </p:sp>
      <p:pic>
        <p:nvPicPr>
          <p:cNvPr id="3" name="Image 0" descr="/sessions/nice-great-mayer/mnt/outputs/pptx_project/assets_simples/chart_03_top_categorias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22960" y="1280160"/>
            <a:ext cx="6949440" cy="42062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046720" y="1463040"/>
            <a:ext cx="356616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São 72 categorias de produto no total.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5 maiores somam 39% da receita, e as outras 67 dividem o restante.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Isso é positivo, porque a empresa não depende de um único tipo de produto.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31520" y="603504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base pública Olist, receita por categoria.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 está concentrada em poucos estados</a:t>
            </a:r>
            <a:endParaRPr lang="en-US" sz="2800" dirty="0"/>
          </a:p>
        </p:txBody>
      </p:sp>
      <p:pic>
        <p:nvPicPr>
          <p:cNvPr id="3" name="Image 0" descr="/sessions/nice-great-mayer/mnt/outputs/pptx_project/assets_simples/chart_04_top_estados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22960" y="1280160"/>
            <a:ext cx="6949440" cy="42062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046720" y="1463040"/>
            <a:ext cx="356616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São Paulo sozinho responde por 37% da receita.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cinco maiores estados somam 73%, e os outros 22 dividem apenas 27%.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mim esse é o maior risco, e ao mesmo tempo onde está o espaço para crescer.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31520" y="603504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base pública Olist, receita por estado do cliente.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base de vendedores é bem distribuída</a:t>
            </a:r>
            <a:endParaRPr lang="en-US" sz="2800" dirty="0"/>
          </a:p>
        </p:txBody>
      </p:sp>
      <p:pic>
        <p:nvPicPr>
          <p:cNvPr id="3" name="Image 0" descr="/sessions/nice-great-mayer/mnt/outputs/pptx_project/assets_simples/chart_06_top_sellers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22960" y="1280160"/>
            <a:ext cx="6949440" cy="42062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046720" y="1463040"/>
            <a:ext cx="356616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São 3.029 vendedores que venderam no período.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10 maiores somam só 13% da receita.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empresa não depende de poucos fornecedores, o que reduz o risco.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31520" y="603504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base pública Olist, receita por vendedor.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entrega ajuda a explicar a concentração</a:t>
            </a:r>
            <a:endParaRPr lang="en-US" sz="2800" dirty="0"/>
          </a:p>
        </p:txBody>
      </p:sp>
      <p:pic>
        <p:nvPicPr>
          <p:cNvPr id="3" name="Image 0" descr="/sessions/nice-great-mayer/mnt/outputs/pptx_project/assets_simples/chart_10_receita_x_entrega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22960" y="1280160"/>
            <a:ext cx="6949440" cy="42062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046720" y="1463040"/>
            <a:ext cx="356616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5 estados que fazem 73% da receita recebem em 10,5 dias na média.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outros 22 esperam 17,3 dias e pagam quase o dobro de frete em proporção ao produto.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correlação entre demorar e vender menos é de -0,60.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correlação, não prova de causa. Mas a entrega é a parte que a empresa consegue mudar.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31520" y="603504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base pública Olist, pedidos entregues entre jan/2017 e ago/2018.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Atrasar não é o mesmo que demorar</a:t>
            </a:r>
            <a:endParaRPr lang="en-US" sz="2800" dirty="0"/>
          </a:p>
        </p:txBody>
      </p:sp>
      <p:pic>
        <p:nvPicPr>
          <p:cNvPr id="3" name="Image 0" descr="/sessions/nice-great-mayer/mnt/outputs/pptx_project/assets_simples/chart_11_atraso_estado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22960" y="1280160"/>
            <a:ext cx="6949440" cy="42062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046720" y="1463040"/>
            <a:ext cx="356616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Alagoas entrega em 24 dias e atrasa 21,5% das vezes.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Roraima demora mais, 29,5 dias, e atrasa 12,5%.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o atraso é alto sem ser o mais lento, o problema é o prazo prometido.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Corrigir a promessa é mais barato e mais rápido que mudar a operação.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31520" y="603504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base pública Olist. Atraso comparado apenas pela data, sem a hora.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atraso afasta o cliente, mas menos do que parece</a:t>
            </a:r>
            <a:endParaRPr lang="en-US" sz="2800" dirty="0"/>
          </a:p>
        </p:txBody>
      </p:sp>
      <p:pic>
        <p:nvPicPr>
          <p:cNvPr id="3" name="Image 0" descr="/sessions/nice-great-mayer/mnt/outputs/pptx_project/assets_simples/chart_12_recompra_atraso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22960" y="1280160"/>
            <a:ext cx="6949440" cy="42062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046720" y="1463040"/>
            <a:ext cx="356616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Primeira compra no prazo: 4,08% voltaram a comprar. Com atraso: 3,16%.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Queda de 22,6%, e o teste confirma que não é acaso (p = 0,007).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 a diferença absoluta é de 0,92 ponto percentual.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Mesmo entregando no prazo, cerca de 96% não voltam. O problema de retenção é maior que a entrega.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31520" y="603504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Considera apenas clientes com primeira compra até fev/2018, para dar 6 meses de janela.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Projeção para os próximos meses</a:t>
            </a:r>
            <a:endParaRPr lang="en-US" sz="2800" dirty="0"/>
          </a:p>
        </p:txBody>
      </p:sp>
      <p:pic>
        <p:nvPicPr>
          <p:cNvPr id="3" name="Image 0" descr="/sessions/nice-great-mayer/mnt/outputs/pptx_project/assets_simples/chart_08_previsao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22960" y="1280160"/>
            <a:ext cx="6949440" cy="42062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046720" y="1463040"/>
            <a:ext cx="356616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 receita está estável, usei a média dos últimos 3 meses para estimar os próximos.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Isso dá cerca de R$ 1 milhão por mês, ou R$ 3 milhões no trimestre.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número importa menos que o recado: a melhor estimativa possível é repetir os últimos meses.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 seja, a projeção confirma o platô. Serve como referência, não como meta.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31520" y="603504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Projeção baseada na média dos últimos 3 meses. A base termina em agosto de 2018.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Recomendações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14400" y="1554480"/>
            <a:ext cx="1033272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20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Priorizar atração e retenção de clientes, que foi o lado que parou de crescer e trava a receita</a:t>
            </a:r>
            <a:endParaRPr lang="en-US" sz="20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20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Tratar a expansão fora do Sudeste como problema de logística, não só de ação comercial</a:t>
            </a:r>
            <a:endParaRPr lang="en-US" sz="20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20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 o prazo prometido onde ele está mal calibrado, como em Alagoas</a:t>
            </a:r>
            <a:endParaRPr lang="en-US" sz="20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20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Acompanhar a receita por vendedor, que caiu quase um terço em oito meses</a:t>
            </a:r>
            <a:endParaRPr lang="en-US" sz="20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20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Trabalhar o valor do pedido, já que o crescimento veio de volume e não de ticket maior</a:t>
            </a:r>
            <a:endParaRPr lang="en-US" sz="2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limitação importante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14400" y="1554480"/>
            <a:ext cx="1033272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20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base não informa quanto a Olist recebe de comissão em cada venda</a:t>
            </a:r>
            <a:endParaRPr lang="en-US" sz="20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20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isso, a receita analisada aqui é o valor total da venda, e não o que entra no caixa da empresa</a:t>
            </a:r>
            <a:endParaRPr lang="en-US" sz="20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20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Isso significa que não é possível calcular lucro ou margem com esses dados</a:t>
            </a:r>
            <a:endParaRPr lang="en-US" sz="20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20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conclusões se limitam a volume de vendas, receita e concentração</a:t>
            </a:r>
            <a:endParaRPr lang="en-US" sz="2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743200"/>
            <a:ext cx="121889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Obrigado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0" y="356616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Challenge Fase 1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1305</Words>
  <Application>Microsoft Office PowerPoint</Application>
  <PresentationFormat>Widescreen</PresentationFormat>
  <Paragraphs>132</Paragraphs>
  <Slides>19</Slides>
  <Notes>19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POSTECH Data Analytics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Olist - Crescimento e Receita</dc:title>
  <dc:subject>PptxGenJS Presentation</dc:subject>
  <dc:creator>Evanio Alves Carvalho</dc:creator>
  <cp:lastModifiedBy>Evanio Carvalho</cp:lastModifiedBy>
  <cp:revision>1</cp:revision>
  <dcterms:created xsi:type="dcterms:W3CDTF">2026-08-19T01:01:08Z</dcterms:created>
  <dcterms:modified xsi:type="dcterms:W3CDTF">2026-08-20T02:10:06Z</dcterms:modified>
</cp:coreProperties>
</file>