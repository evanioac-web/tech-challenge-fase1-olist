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2011680"/>
            <a:ext cx="5486400" cy="5486400"/>
          </a:xfrm>
          <a:prstGeom prst="ellipse">
            <a:avLst/>
          </a:prstGeom>
          <a:noFill/>
          <a:ln w="19050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4389120"/>
            <a:ext cx="3657600" cy="3657600"/>
          </a:xfrm>
          <a:prstGeom prst="ellipse">
            <a:avLst/>
          </a:prstGeom>
          <a:noFill/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Cambria"/>
              </a:rPr>
              <a:t>Case Olist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272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CFCFCF"/>
                </a:solidFill>
                <a:latin typeface="Calibri"/>
              </a:rPr>
              <a:t>Análise de Crescimento e Receita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1064"/>
                </a:solidFill>
                <a:latin typeface="Calibri"/>
              </a:rPr>
              <a:t>Tech Challenge | Fase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554480" y="5074920"/>
            <a:ext cx="548640" cy="27432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53492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CFCFCF"/>
                </a:solidFill>
                <a:latin typeface="Calibri"/>
              </a:rPr>
              <a:t>Eduardo Zancanaro Vilela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>
                <a:solidFill>
                  <a:srgbClr val="CFCFCF"/>
                </a:solidFill>
                <a:latin typeface="Calibri"/>
              </a:rPr>
              <a:t>Evanio Alves Carvalho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>
                <a:solidFill>
                  <a:srgbClr val="CFCFCF"/>
                </a:solidFill>
                <a:latin typeface="Calibri"/>
              </a:rPr>
              <a:t>Marcela Morillas de Souza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>
                <a:solidFill>
                  <a:srgbClr val="CFCFCF"/>
                </a:solidFill>
                <a:latin typeface="Calibri"/>
              </a:rPr>
              <a:t>Mateus Araújo</a:t>
            </a:r>
          </a:p>
        </p:txBody>
      </p:sp>
      <p:pic>
        <p:nvPicPr>
          <p:cNvPr id="9" name="Picture 8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OBJETIVO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O que esta análise se propõe a responder.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350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Entender a evolução da receita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45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Como a receita da Olist evoluiu entre janeiro de 2017 e agosto de 2018.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63652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365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59994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Descobrir onde a receita está concentrada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9108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Por categoria de produto, por região do cliente e por vendedor.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90144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014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86486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Apontar recomendações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75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Para apoiar a decisão de investidores e acionistas sobre onde aplicar capital.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303520"/>
            <a:ext cx="11091672" cy="841248"/>
          </a:xfrm>
          <a:prstGeom prst="rect">
            <a:avLst/>
          </a:prstGeom>
          <a:solidFill>
            <a:srgbClr val="F7F7F7"/>
          </a:solidFill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431536"/>
            <a:ext cx="105430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Base usada: Brazilian E-Commerce Public Dataset by Olist. Receita considerada: preço do produto mais o frete de cada item.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42900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TRATAMENTO DOS DADOS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Decisões tomadas antes de qualquer análise.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350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Modelo estrela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45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Tabela fato no grão de item de pedido, com dimensões de cliente, produto, vendedor e data.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295144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951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25856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Período analisado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569463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Janeiro de 2017 a agosto de 2018.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218688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1868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18211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Meses de 2016 excluídos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49300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Não têm movimento constante: setembro teve 4 pedidos, outubro 324 e dezembro 1.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142232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14223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10565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Cancelados e indisponíveis excluídos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41655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Quase não têm produto associado, então não representam venda concretizada.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5065776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0657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02920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Outliers de preço mantidos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34009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São produtos caros reais e não erros de cadastro. A assimetria é tratada reportando a mediana.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552444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OS NÚMEROS DO PERÍODO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17320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8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R$ 15,68M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807208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Receita total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581144" y="1417320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892808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97.905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8304" y="2807208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Pedidos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1417320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892808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~628%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807208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Crescimento no período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831335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306823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R$ 160,19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5221223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Ticket médio (média)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1144" y="3831335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306823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R$ 105,28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5221223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Ticket médio (mediana)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3831335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306823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137%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5221223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Coeficiente de variação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08990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Entre janeiro de 2017 e agosto de 2018.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182112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RECORTE DO PERÍODO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0_serie_comple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552" y="1024128"/>
            <a:ext cx="7946136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 base começa em setembro de 2016, mas o começo não tem movimento constante. Setembro teve 4 pedidos, outubro 324, novembro nem aparece e dezembro teve 1.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Outubro é maior que os vizinhos, mas ainda é menos da metade de janeiro de 2017 e parece um teste pontual. Usar esses meses como base faria o crescimento parecer muito maior do que foi.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todos os meses disponíveis.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688336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RECEITA MENSAL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1_evolucao_mens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1024128"/>
            <a:ext cx="7690104" cy="38450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070348"/>
            <a:ext cx="11091672" cy="1092708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207508"/>
            <a:ext cx="10506456" cy="8549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 receita saiu de R$ 137 mil em janeiro de 2017 para cerca de R$ 1 milhão em 2018, um crescimento de aproximadamente 628% no período.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Mas a partir de meados de 2018 ela para de crescer e fica oscilando no mesmo patamar.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janeiro de 2017 a agosto de 2018.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441448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BLACK FRIDAY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7_black_frid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083564"/>
            <a:ext cx="8732520" cy="34930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Novembro de 2017 é o maior mês da série. Abrindo o mês por dia, quase tudo se concentra no dia 24, que foi a Black Friday: 1.166 pedidos, contra uma média de 191 nos dias fora do fim de semana promocional, seis vezes o volume habitual.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 maior mês da série é uma data promocional e não um novo patamar de vendas. Absorver esse pico sem ruptura, por outro lado, é um ponto positivo da plataforma.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pedidos por dia em novembro de 2017.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441448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TICKET MÉDIO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2_ticket_med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200150"/>
            <a:ext cx="8732520" cy="34930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070348"/>
            <a:ext cx="11091672" cy="1092708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207508"/>
            <a:ext cx="10506456" cy="8549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O valor médio por pedido ficou entre R$ 146 e R$ 174 durante todo o período. A média é R$ 160 e a mediana R$ 105, o que mostra que a maioria dos pedidos é mais barata.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 crescimento veio de vender mais pedidos e não de vender pedidos mais caros.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42900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PAUSA NO CRESCIMENTO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9_vendedores_clie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740" y="1024128"/>
            <a:ext cx="7223760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Em 2018 os vendedores ativos subiram de 968 para 1.266, um crescimento de 31%. Os clientes fizeram o contrário: caíram de 7.088 para 6.380, uma queda de 10%.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Com isso a receita por vendedor caiu 31%, de R$ 1.138 para R$ 788. O gargalo não é falta de quem venda, é falta de quem compre.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clientes e vendedores distintos por mês.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688336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TOP CATEGORIAS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3_top_categor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A receita é bem distribuída entre categorias.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São 72 categorias de produto no total.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As 5 maiores somam 39% da receita e as outras 67 dividem o restante.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Isso é positivo, porque a empresa não depende de um único tipo de produto.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receita por categoria.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318004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TOP ESTADOS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4_top_esta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Mas está concentrada em poucos estados.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São Paulo sozinho responde por 37% da receita.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Os cinco maiores estados somam 73% e os outros 22 dividem apenas 27%.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Esse é o maior risco e, ao mesmo tempo, onde está o espaço para crescer.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receita por estado do cliente.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688336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TOP VENDEDORES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6_top_sell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A base de vendedores é bem distribuída.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São 3.029 vendedores que venderam no período.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Os 10 maiores somam apenas 13% da receita.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A empresa não depende de poucos fornecedores, o que reduz o risco.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receita por vendedor.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058668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RECEITA E ENTREGA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10_receita_x_entre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A entrega ajuda a explicar a concentração.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Os 5 estados que fazem 73% da receita recebem em 10,5 dias na média.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Os outros 22 esperam 17,3 dias e pagam quase o dobro de frete em proporção ao produto.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A correlação entre demorar e vender menos é de -0,60.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É correlação, não prova de causa. Mas a entrega é a parte que a empresa consegue mudar.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pedidos entregues entre jan/2017 e ago/2018.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ATRASOS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11_atraso_est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740" y="1024128"/>
            <a:ext cx="7223760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Atrasar não é o mesmo que demorar. Alagoas entrega em 24 dias e atrasa 21,5% das vezes. Roraima demora mais, 29,5 dias, e atrasa 12,5%.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Onde o atraso é alto sem ser o mais lento, o problema é o prazo prometido. Corrigir a promessa é mais barato e mais rápido do que mudar a operação.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Olist. Atraso comparado apenas pela data, sem a hora.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RECOMPRA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12_recompra_atra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5860" y="1417320"/>
            <a:ext cx="493776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O atraso afasta o cliente, mas menos do que parece.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Primeira compra no prazo: 4,08% voltaram a comprar. Com atraso: 3,16%.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Queda de 22,6%, e o teste confirma que não é acaso (p = 0,007).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Mas a diferença absoluta é de apenas 0,92 ponto percentual.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Mesmo entregando no prazo, cerca de 96% não voltam. O problema de retenção é maior que a entrega.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Considera apenas clientes com primeira compra até fev/2018, para dar 6 meses de janela de retorno.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PROJEÇÃO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8_previ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062" y="1024128"/>
            <a:ext cx="8459114" cy="38450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070348"/>
            <a:ext cx="11091672" cy="1092708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207508"/>
            <a:ext cx="10506456" cy="8549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Como a receita está estável, a média dos últimos 3 meses é a melhor estimativa para os próximos. Isso dá cerca de R$ 1 milhão por mês, ou R$ 3 milhões no trimestre.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 número importa menos que o recado: a projeção confirma o platô. Serve como referência, não como meta.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projeção baseada na média dos últimos 3 meses. A base termina em agosto de 2018.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564892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RECOMENDAÇÕES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Em ordem de prioridade.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350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Priorizar atração e retenção de clientes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45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Foi o lado que parou de crescer e é o que trava a receita. Ampliar a oferta antes disso piora o retorno por vendedor.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295144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951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25856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Tratar a expansão fora do Sudeste como problema de logística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569463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Prazo e frete são a barreira nos 22 estados de menor participação, não apenas a ação comercial.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218688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1868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18211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Revisar o prazo prometido onde ele está mal calibrado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49300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Como em Alagoas. É a medida de maior retorno imediato, porque não exige mudança estrutural.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142232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14223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10565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Acompanhar a receita por vendedor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41655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Caiu quase um terço em oito meses e é o sinal mais direto de desequilíbrio entre oferta e demanda.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5065776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0657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02920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Trabalhar o valor do pedido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34009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O crescimento veio de volume e não de ticket maior, o que deixa espaço para combos, kits e venda casada.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LIMITAÇÕES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725912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 base não informa quanto a Olist recebe de comissão em cada venda.</a:t>
            </a:r>
          </a:p>
          <a:p>
            <a:pPr algn="l">
              <a:lnSpc>
                <a:spcPct val="140000"/>
              </a:lnSpc>
              <a:spcBef>
                <a:spcPts val="2200"/>
              </a:spcBef>
            </a:pPr>
            <a:r>
              <a:rPr sz="1300" b="1">
                <a:solidFill>
                  <a:srgbClr val="1A1A1A"/>
                </a:solidFill>
                <a:latin typeface="Calibri"/>
              </a:rPr>
              <a:t>Por isso, a receita analisada aqui é o valor total da venda e não o que entra no caixa da empresa.</a:t>
            </a:r>
          </a:p>
          <a:p>
            <a:pPr algn="l">
              <a:lnSpc>
                <a:spcPct val="140000"/>
              </a:lnSpc>
              <a:spcBef>
                <a:spcPts val="2200"/>
              </a:spcBef>
            </a:pPr>
            <a:r>
              <a:rPr sz="1300" b="1">
                <a:solidFill>
                  <a:srgbClr val="1A1A1A"/>
                </a:solidFill>
                <a:latin typeface="Calibri"/>
              </a:rPr>
              <a:t>Isso significa que não é possível calcular lucro, margem ou retorno sobre investimento com esses dados.</a:t>
            </a:r>
          </a:p>
          <a:p>
            <a:pPr algn="l">
              <a:lnSpc>
                <a:spcPct val="140000"/>
              </a:lnSpc>
              <a:spcBef>
                <a:spcPts val="2200"/>
              </a:spcBef>
            </a:pPr>
            <a:r>
              <a:rPr sz="1300" b="1">
                <a:solidFill>
                  <a:srgbClr val="1A1A1A"/>
                </a:solidFill>
                <a:latin typeface="Calibri"/>
              </a:rPr>
              <a:t>A relação entre tempo de entrega e receita por estado é correlação, não prova de causa. São Paulo concentra também população e renda.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434840"/>
            <a:ext cx="11091672" cy="914400"/>
          </a:xfrm>
          <a:prstGeom prst="rect">
            <a:avLst/>
          </a:prstGeom>
          <a:solidFill>
            <a:srgbClr val="F7F7F7"/>
          </a:solidFill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36008"/>
            <a:ext cx="1054303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A1A1A"/>
                </a:solidFill>
                <a:latin typeface="Calibri"/>
              </a:rPr>
              <a:t>As conclusões se limitam a volume de vendas, receita e concentração.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286000" y="-2286000"/>
            <a:ext cx="5029200" cy="5029200"/>
          </a:xfrm>
          <a:prstGeom prst="ellipse">
            <a:avLst/>
          </a:prstGeom>
          <a:noFill/>
          <a:ln w="19050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114800"/>
            <a:ext cx="4114800" cy="4114800"/>
          </a:xfrm>
          <a:prstGeom prst="ellipse">
            <a:avLst/>
          </a:prstGeom>
          <a:noFill/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Cambria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FCFCF"/>
                </a:solidFill>
                <a:latin typeface="Calibri"/>
              </a:rPr>
              <a:t>Tech Challenge Fase 1 | POSTECH Data Analytics</a:t>
            </a:r>
          </a:p>
        </p:txBody>
      </p:sp>
      <p:pic>
        <p:nvPicPr>
          <p:cNvPr id="6" name="Picture 5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